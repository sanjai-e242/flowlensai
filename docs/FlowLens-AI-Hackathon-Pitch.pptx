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10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7619809" y="0"/>
            <ns1:ext cx="4571886" cy="6858000"/>
          </ns1:xfrm>
          <ns1:prstGeom prst="rect">
            <ns1:avLst/>
          </ns1:prstGeom>
          <ns1:solidFill>
            <ns1:srgbClr val="3E3E3E"/>
          </ns1:solidFill>
          <ns1:ln/>
        </ns0:spPr>
      </ns0:sp>
      <ns0:pic>
        <ns0:nvPicPr>
          <ns0:cNvPr id="3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714263" y="506909"/>
            <ns1:ext cx="4382879" cy="5844084"/>
          </ns1:xfrm>
          <ns1:prstGeom prst="rect">
            <ns1:avLst/>
          </ns1:prstGeom>
        </ns0:spPr>
      </ns0:pic>
      <ns0:sp>
        <ns0:nvSpPr>
          <ns0:cNvPr id="4" name="Text 1"/>
          <ns0:cNvSpPr/>
          <ns0:nvPr/>
        </ns0:nvSpPr>
        <ns0:spPr>
          <ns1:xfrm>
            <ns1:off x="661475" y="536178"/>
            <ns1:ext cx="6296860" cy="17719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37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FLOWLENS AI — WHERE DOES THE PROCESS ACTUALLY SLOW DOWN?</ns1:t>
            </ns1:r>
            <ns1:endParaRPr lang="en-US" sz="37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661475" y="2591594"/>
            <ns1:ext cx="6906444" cy="302419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33000"/>
              </ns1:lnSpc>
              <ns1:buNone/>
            </ns1:pPr>
            <ns1:r>
              <ns1:rPr lang="en-US" sz="1450" i="1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Universal Process Intelligence + Predictive ML + What-If Simulation + Gemini AI</ns1:t>
            </ns1:r>
            <ns1:endParaRPr lang="en-US" sz="1450" dirty="0"/>
          </ns1:p>
        </ns0:txBody>
      </ns0:sp>
      <ns0:pic>
        <ns0:nvPicPr>
          <ns0:cNvPr id="6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661475" y="3106638"/>
            <ns1:ext cx="6296860" cy="2715419"/>
          </ns1:xfrm>
          <ns1:prstGeom prst="rect">
            <ns1:avLst/>
          </ns1:prstGeom>
        </ns0:spPr>
      </ns0:pic>
      <ns0:sp>
        <ns0:nvSpPr>
          <ns0:cNvPr id="7" name="Text 3"/>
          <ns0:cNvSpPr/>
          <ns0:nvPr/>
        </ns0:nvSpPr>
        <ns0:spPr>
          <ns1:xfrm>
            <ns1:off x="1085188" y="5307112"/>
            <ns1:ext cx="1428545" cy="1785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100" dirty="0">
                <ns1:solidFill>
                  <ns1:srgbClr val="000000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Approval</ns1:t>
            </ns1:r>
            <ns1:endParaRPr lang="en-US" sz="1100" dirty="0"/>
          </ns1:p>
        </ns0:txBody>
      </ns0:sp>
      <ns0:sp>
        <ns0:nvSpPr>
          <ns0:cNvPr id="8" name="Text 4"/>
          <ns0:cNvSpPr/>
          <ns0:nvPr/>
        </ns0:nvSpPr>
        <ns0:spPr>
          <ns1:xfrm>
            <ns1:off x="1085188" y="4678537"/>
            <ns1:ext cx="1428545" cy="1785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100" dirty="0">
                <ns1:solidFill>
                  <ns1:srgbClr val="000000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Processing</ns1:t>
            </ns1:r>
            <ns1:endParaRPr lang="en-US" sz="1100" dirty="0"/>
          </ns1:p>
        </ns0:txBody>
      </ns0:sp>
      <ns0:sp>
        <ns0:nvSpPr>
          <ns0:cNvPr id="9" name="Text 5"/>
          <ns0:cNvSpPr/>
          <ns0:nvPr/>
        </ns0:nvSpPr>
        <ns0:spPr>
          <ns1:xfrm>
            <ns1:off x="1085188" y="4056310"/>
            <ns1:ext cx="1428545" cy="1785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100" dirty="0">
                <ns1:solidFill>
                  <ns1:srgbClr val="000000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Verification</ns1:t>
            </ns1:r>
            <ns1:endParaRPr lang="en-US" sz="1100" dirty="0"/>
          </ns1:p>
        </ns0:txBody>
      </ns0:sp>
      <ns0:sp>
        <ns0:nvSpPr>
          <ns0:cNvPr id="10" name="Text 6"/>
          <ns0:cNvSpPr/>
          <ns0:nvPr/>
        </ns0:nvSpPr>
        <ns0:spPr>
          <ns1:xfrm>
            <ns1:off x="1085188" y="3427735"/>
            <ns1:ext cx="1428545" cy="1785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100" dirty="0">
                <ns1:solidFill>
                  <ns1:srgbClr val="000000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Registration</ns1:t>
            </ns1:r>
            <ns1:endParaRPr lang="en-US" sz="1100" dirty="0"/>
          </ns1:p>
        </ns0:txBody>
      </ns0:sp>
      <ns0:sp>
        <ns0:nvSpPr>
          <ns0:cNvPr id="11" name="Shape 7"/>
          <ns0:cNvSpPr/>
          <ns0:nvPr/>
        </ns0:nvSpPr>
        <ns0:spPr>
          <ns1:xfrm>
            <ns1:off x="661475" y="6034683"/>
            <ns1:ext cx="3399447" cy="287139"/>
          </ns1:xfrm>
          <ns1:prstGeom prst="roundRect">
            <ns1:avLst>
              <ns1:gd name="adj" fmla="val 7899"/>
            </ns1:avLst>
          </ns1:prstGeom>
          <ns1:solidFill>
            <ns1:srgbClr val="494904"/>
          </ns1:solidFill>
          <ns1:ln/>
        </ns0:spPr>
      </ns0:sp>
      <ns0:pic>
        <ns0:nvPicPr>
          <ns0:cNvPr id="12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774879" y="6102648"/>
            <ns1:ext cx="151206" cy="151209"/>
          </ns1:xfrm>
          <ns1:prstGeom prst="rect">
            <ns1:avLst/>
          </ns1:prstGeom>
        </ns0:spPr>
      </ns0:pic>
      <ns0:sp>
        <ns0:nvSpPr>
          <ns0:cNvPr id="13" name="Text 8"/>
          <ns0:cNvSpPr/>
          <ns0:nvPr/>
        </ns0:nvSpPr>
        <ns0:spPr>
          <ns1:xfrm>
            <ns1:off x="1001687" y="6091337"/>
            <ns1:ext cx="3555415" cy="173831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96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PS 17 | DATA SCIENCE | HACKGENIX 2026</ns1:t>
            </ns1:r>
            <ns1:endParaRPr lang="en-US" sz="1150" dirty="0"/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7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Delay Is Not Always Where You Think It Is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4661"/>
            <a:ext cx="4199924" cy="3023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640" y="139958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averages lie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293" y="1776462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78059" y="1771848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Hidden stage-level delays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778059" y="2129036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averages mask which stage is actually causing the slowdown.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293" y="2810917"/>
            <a:ext cx="226808" cy="2268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78059" y="2806303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Wrong optimization target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778059" y="3163491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Managers may invest effort improving the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wrong stage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entirely.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3293" y="3627686"/>
            <a:ext cx="226808" cy="2268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78059" y="3623072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bottlenecks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778059" y="3980259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Bottlenecks shift with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workload, resources, and time of day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3293" y="4444454"/>
            <a:ext cx="22680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78059" y="4439841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Intervention gap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778059" y="4797028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Knowing </a:t>
            </a:r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delay occurs is not enough — we need to know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what change will actually reduce it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6286640" y="5368429"/>
            <a:ext cx="5249930" cy="728663"/>
          </a:xfrm>
          <a:prstGeom prst="roundRect">
            <a:avLst>
              <a:gd name="adj" fmla="val 3113"/>
            </a:avLst>
          </a:prstGeom>
          <a:solidFill>
            <a:srgbClr val="797907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7846" y="5559921"/>
            <a:ext cx="189007" cy="1512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78059" y="5515074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The real question is not "Is the process slow?" It is "WHERE, WHY, and WHAT SHOULD WE CHANGE?"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4571886" cy="6858000"/>
          </ns1:xfrm>
          <ns1:prstGeom prst="rect">
            <ns1:avLst/>
          </ns1:prstGeom>
          <ns1:solidFill>
            <ns1:srgbClr val="3E3E3E"/>
          </ns1:solidFill>
          <ns1:ln/>
        </ns0:spPr>
      </ns0:sp>
      <ns0:pic>
        <ns0:nvPicPr>
          <ns0:cNvPr id="3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66078" y="469106"/>
            <ns1:ext cx="4439730" cy="5919787"/>
          </ns1:xfrm>
          <ns1:prstGeom prst="rect">
            <ns1:avLst/>
          </ns1:prstGeom>
        </ns0:spPr>
      </ns0:pic>
      <ns0:sp>
        <ns0:nvSpPr>
          <ns0:cNvPr id="4" name="Text 1"/>
          <ns0:cNvSpPr/>
          <ns0:nvPr/>
        </ns0:nvSpPr>
        <ns0:spPr>
          <ns1:xfrm>
            <ns1:off x="5233360" y="600273"/>
            <ns1:ext cx="6296860" cy="413445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26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FLOWLENS 4-TIER PROCESS INTELLIGENCE</ns1:t>
            </ns1:r>
            <ns1:endParaRPr lang="en-US" sz="26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5233360" y="1152624"/>
            <ns1:ext cx="6906444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i="1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Deterministic Engine → Predictive ML → What-If Simulation → Gemini AI</ns1:t>
            </ns1:r>
            <ns1:endParaRPr lang="en-US" sz="1000" dirty="0"/>
          </ns1:p>
        </ns0:txBody>
      </ns0:sp>
      <ns0:pic>
        <ns0:nvPicPr>
          <ns0:cNvPr id="6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5233360" y="1436787"/>
            <ns1:ext cx="661475" cy="793849"/>
          </ns1:xfrm>
          <ns1:prstGeom prst="rect">
            <ns1:avLst/>
          </ns1:prstGeom>
        </ns0:spPr>
      </ns0:pic>
      <ns0:sp>
        <ns0:nvSpPr>
          <ns0:cNvPr id="7" name="Text 3"/>
          <ns0:cNvSpPr/>
          <ns0:nvPr/>
        </ns0:nvSpPr>
        <ns0:spPr>
          <ns1:xfrm>
            <ns1:off x="5987404" y="1569045"/>
            <ns1:ext cx="5542816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🔍 DETERMINISTIC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8" name="Text 4"/>
          <ns0:cNvSpPr/>
          <ns0:nvPr/>
        </ns0:nvSpPr>
        <ns0:spPr>
          <ns1:xfrm>
            <ns1:off x="5987404" y="1831280"/>
            <ns1:ext cx="5542816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Exact Bottleneck DNA, cycle &amp; queue metrics</ns1:t>
            </ns1:r>
            <ns1:endParaRPr lang="en-US" sz="1000" dirty="0"/>
          </ns1:p>
        </ns0:txBody>
      </ns0:sp>
      <ns0:pic>
        <ns0:nvPicPr>
          <ns0:cNvPr id="9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5233360" y="2230636"/>
            <ns1:ext cx="661475" cy="793849"/>
          </ns1:xfrm>
          <ns1:prstGeom prst="rect">
            <ns1:avLst/>
          </ns1:prstGeom>
        </ns0:spPr>
      </ns0:pic>
      <ns0:sp>
        <ns0:nvSpPr>
          <ns0:cNvPr id="10" name="Text 5"/>
          <ns0:cNvSpPr/>
          <ns0:nvPr/>
        </ns0:nvSpPr>
        <ns0:spPr>
          <ns1:xfrm>
            <ns1:off x="5987404" y="2362895"/>
            <ns1:ext cx="5542816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🤖 PREDICTIVE ML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1" name="Text 6"/>
          <ns0:cNvSpPr/>
          <ns0:nvPr/>
        </ns0:nvSpPr>
        <ns0:spPr>
          <ns1:xfrm>
            <ns1:off x="5987404" y="2625130"/>
            <ns1:ext cx="5542816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Congestion forecast, anomalies &amp; remaining time</ns1:t>
            </ns1:r>
            <ns1:endParaRPr lang="en-US" sz="1000" dirty="0"/>
          </ns1:p>
        </ns0:txBody>
      </ns0:sp>
      <ns0:pic>
        <ns0:nvPicPr>
          <ns0:cNvPr id="12" name="Image 3" descr="preencoded.png">    </ns0:cNvPr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233360" y="3024485"/>
            <ns1:ext cx="661475" cy="793849"/>
          </ns1:xfrm>
          <ns1:prstGeom prst="rect">
            <ns1:avLst/>
          </ns1:prstGeom>
        </ns0:spPr>
      </ns0:pic>
      <ns0:sp>
        <ns0:nvSpPr>
          <ns0:cNvPr id="13" name="Text 7"/>
          <ns0:cNvSpPr/>
          <ns0:nvPr/>
        </ns0:nvSpPr>
        <ns0:spPr>
          <ns1:xfrm>
            <ns1:off x="5987404" y="3156744"/>
            <ns1:ext cx="5542816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⚡ WHAT-IF SIM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4" name="Text 8"/>
          <ns0:cNvSpPr/>
          <ns0:nvPr/>
        </ns0:nvSpPr>
        <ns0:spPr>
          <ns1:xfrm>
            <ns1:off x="5987404" y="3418979"/>
            <ns1:ext cx="5542816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Kingman queue modeling &amp; migration dynamics</ns1:t>
            </ns1:r>
            <ns1:endParaRPr lang="en-US" sz="1000" dirty="0"/>
          </ns1:p>
        </ns0:txBody>
      </ns0:sp>
      <ns0:pic>
        <ns0:nvPicPr>
          <ns0:cNvPr id="15" name="Image 4" descr="preencoded.png">    </ns0:cNvPr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5233360" y="3818334"/>
            <ns1:ext cx="661475" cy="793849"/>
          </ns1:xfrm>
          <ns1:prstGeom prst="rect">
            <ns1:avLst/>
          </ns1:prstGeom>
        </ns0:spPr>
      </ns0:pic>
      <ns0:sp>
        <ns0:nvSpPr>
          <ns0:cNvPr id="16" name="Text 9"/>
          <ns0:cNvSpPr/>
          <ns0:nvPr/>
        </ns0:nvSpPr>
        <ns0:spPr>
          <ns1:xfrm>
            <ns1:off x="5987404" y="3950593"/>
            <ns1:ext cx="5542816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🧠 GEMINI AI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7" name="Text 10"/>
          <ns0:cNvSpPr/>
          <ns0:nvPr/>
        </ns0:nvSpPr>
        <ns0:spPr>
          <ns1:xfrm>
            <ns1:off x="5987404" y="4212828"/>
            <ns1:ext cx="5542816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Contextual executive narration of verified facts</ns1:t>
            </ns1:r>
            <ns1:endParaRPr lang="en-US" sz="1000" dirty="0"/>
          </ns1:p>
        </ns0:txBody>
      </ns0:sp>
      <ns0:sp>
        <ns0:nvSpPr>
          <ns0:cNvPr id="18" name="Text 11"/>
          <ns0:cNvSpPr/>
          <ns0:nvPr/>
        </ns0:nvSpPr>
        <ns0:spPr>
          <ns1:xfrm>
            <ns1:off x="5233360" y="4808934"/>
            <ns1:ext cx="2987104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Input</ns1:t>
            </ns1:r>
            <ns1:endParaRPr lang="en-US" sz="1300" dirty="0"/>
          </ns1:p>
        </ns0:txBody>
      </ns0:sp>
      <ns0:sp>
        <ns0:nvSpPr>
          <ns0:cNvPr id="19" name="Text 12"/>
          <ns0:cNvSpPr/>
          <ns0:nvPr/>
        </ns0:nvSpPr>
        <ns0:spPr>
          <ns1:xfrm>
            <ns1:off x="5233360" y="5108178"/>
            <ns1:ext cx="3596689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Universal CSV event logs (Healthcare, Banking, Logistics, etc.)</ns1:t>
            </ns1:r>
            <ns1:endParaRPr lang="en-US" sz="1000" dirty="0"/>
          </ns1:p>
        </ns0:txBody>
      </ns0:sp>
      <ns0:sp>
        <ns0:nvSpPr>
          <ns0:cNvPr id="20" name="Text 13"/>
          <ns0:cNvSpPr/>
          <ns0:nvPr/>
        </ns0:nvSpPr>
        <ns0:spPr>
          <ns1:xfrm>
            <ns1:off x="8549466" y="4808934"/>
            <ns1:ext cx="2987104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Output</ns1:t>
            </ns1:r>
            <ns1:endParaRPr lang="en-US" sz="1300" dirty="0"/>
          </ns1:p>
        </ns0:txBody>
      </ns0:sp>
      <ns0:sp>
        <ns0:nvSpPr>
          <ns0:cNvPr id="21" name="Text 14"/>
          <ns0:cNvSpPr/>
          <ns0:nvPr/>
        </ns0:nvSpPr>
        <ns0:spPr>
          <ns1:xfrm>
            <ns1:off x="8549466" y="5108178"/>
            <ns1:ext cx="2987104" cy="35996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Verified bottleneck + ML forecast + simulation + Gemini narrative</ns1:t>
            </ns1:r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</ns0:txBody>
      </ns0:sp>
      <ns0:sp>
        <ns0:nvSpPr>
          <ns0:cNvPr id="22" name="Shape 15"/>
          <ns0:cNvSpPr/>
          <ns0:nvPr/>
        </ns0:nvSpPr>
        <ns0:spPr>
          <ns1:xfrm>
            <ns1:off x="5233360" y="5655667"/>
            <ns1:ext cx="6296860" cy="601960"/>
          </ns1:xfrm>
          <ns1:prstGeom prst="roundRect">
            <ns1:avLst>
              <ns1:gd name="adj" fmla="val 3297"/>
            </ns1:avLst>
          </ns1:prstGeom>
          <ns1:solidFill>
            <ns1:srgbClr val="797907"/>
          </ns1:solidFill>
          <ns1:ln/>
        </ns0:spPr>
      </ns0:sp>
      <ns0:pic>
        <ns0:nvPicPr>
          <ns0:cNvPr id="23" name="Image 5" descr="preencoded.png">    </ns0:cNvPr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5365616" y="5792490"/>
            <ns1:ext cx="165294" cy="132259"/>
          </ns1:xfrm>
          <ns1:prstGeom prst="rect">
            <ns1:avLst/>
          </ns1:prstGeom>
        </ns0:spPr>
      </ns0:pic>
      <ns0:sp>
        <ns0:nvSpPr>
          <ns0:cNvPr id="24" name="Text 16"/>
          <ns0:cNvSpPr/>
          <ns0:nvPr/>
        </ns0:nvSpPr>
        <ns0:spPr>
          <ns1:xfrm>
            <ns1:off x="5663165" y="5781278"/>
            <ns1:ext cx="5734800" cy="35996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FFFFF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>Deterministic tracks what is happening. ML forecasts what is likely next. Simulation tests interventions. Gemini explains verified evidence.</ns1:t>
            </ns1:r>
            <ns1:endParaRPr lang="en-US" sz="100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>
  <ns0:cSld name="Slide 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4571886" cy="6858000"/>
          </ns1:xfrm>
          <ns1:prstGeom prst="rect">
            <ns1:avLst/>
          </ns1:prstGeom>
          <ns1:solidFill>
            <ns1:srgbClr val="3E3E3E"/>
          </ns1:solidFill>
          <ns1:ln/>
        </ns0:spPr>
      </ns0:sp>
      <ns0:pic>
        <ns0:nvPicPr>
          <ns0:cNvPr id="3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4412" y="111621"/>
            <ns1:ext cx="4423061" cy="6634758"/>
          </ns1:xfrm>
          <ns1:prstGeom prst="rect">
            <ns1:avLst/>
          </ns1:prstGeom>
        </ns0:spPr>
      </ns0:pic>
      <ns0:sp>
        <ns0:nvSpPr>
          <ns0:cNvPr id="4" name="Shape 1"/>
          <ns0:cNvSpPr/>
          <ns0:nvPr/>
        </ns0:nvSpPr>
        <ns0:spPr>
          <ns1:xfrm>
            <ns1:off x="5233360" y="570309"/>
            <ns1:ext cx="1283660" cy="226219"/>
          </ns1:xfrm>
          <ns1:prstGeom prst="roundRect">
            <ns1:avLst>
              <ns1:gd name="adj" fmla="val 7896"/>
            </ns1:avLst>
          </ns1:prstGeom>
          <ns1:solidFill>
            <ns1:srgbClr val="494904"/>
          </ns1:solidFill>
          <ns1:ln/>
        </ns0:spPr>
      </ns0:sp>
      <ns0:sp>
        <ns0:nvSpPr>
          <ns0:cNvPr id="5" name="Text 2"/>
          <ns0:cNvSpPr/>
          <ns0:nvPr/>
        </ns0:nvSpPr>
        <ns0:spPr>
          <ns1:xfrm>
            <ns1:off x="5322655" y="614958"/>
            <ns1:ext cx="1714656" cy="13692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96000"/>
              </ns1:lnSpc>
              <ns1:buNone/>
            </ns1:pPr>
            <ns1:r>
              <ns1:rPr lang="en-US" sz="9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FULL-STACK ARCHITECTURE</ns1:t>
            </ns1:r>
            <ns1:endParaRPr lang="en-US" sz="900" dirty="0"/>
          </ns1:p>
        </ns0:txBody>
      </ns0:sp>
      <ns0:sp>
        <ns0:nvSpPr>
          <ns0:cNvPr id="6" name="Text 3"/>
          <ns0:cNvSpPr/>
          <ns0:nvPr/>
        </ns0:nvSpPr>
        <ns0:spPr>
          <ns1:xfrm>
            <ns1:off x="5233360" y="843359"/>
            <ns1:ext cx="6296860" cy="9302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29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Decoupled Next.js (Vercel) + FastAPI Python ML Microservice</ns1:t>
            </ns1:r>
            <ns1:endParaRPr lang="en-US" sz="2900" dirty="0"/>
          </ns1:p>
        </ns0:txBody>
      </ns0:sp>
      <ns0:sp>
        <ns0:nvSpPr>
          <ns0:cNvPr id="7" name="Shape 4"/>
          <ns0:cNvSpPr/>
          <ns0:nvPr/>
        </ns0:nvSpPr>
        <ns0:spPr>
          <ns1:xfrm>
            <ns1:off x="6238620" y="2081312"/>
            <ns1:ext cx="5297851" cy="923826"/>
          </ns1:xfrm>
          <ns1:prstGeom prst="roundRect">
            <ns1:avLst>
              <ns1:gd name="adj" fmla="val 2417"/>
            </ns1:avLst>
          </ns1:prstGeom>
          <ns1:solidFill>
            <ns1:srgbClr val="797907"/>
          </ns1:solidFill>
          <ns1:ln/>
        </ns0:spPr>
      </ns0:sp>
      <ns0:pic>
        <ns0:nvPicPr>
          <ns0:cNvPr id="8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6387444" y="2264172"/>
            <ns1:ext cx="186031" cy="148828"/>
          </ns1:xfrm>
          <ns1:prstGeom prst="rect">
            <ns1:avLst/>
          </ns1:prstGeom>
        </ns0:spPr>
      </ns0:pic>
      <ns0:sp>
        <ns0:nvSpPr>
          <ns0:cNvPr id="9" name="Text 5"/>
          <ns0:cNvSpPr/>
          <ns0:nvPr/>
        </ns0:nvSpPr>
        <ns0:spPr>
          <ns1:xfrm>
            <ns1:off x="6722299" y="2223988"/>
            <ns1:ext cx="4665347" cy="63847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FFFFF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Cloud-native decoupled architecture: Next.js on Vercel with graceful fallback + containerized Python ML microservice.</ns1:t>
            </ns1:r>
            <ns1:endParaRPr lang="en-US" sz="1150" dirty="0"/>
          </ns1:p>
        </ns0:txBody>
      </ns0:sp>
      <ns0:sp>
        <ns0:nvSpPr>
          <ns0:cNvPr id="10" name="Text 6"/>
          <ns0:cNvSpPr/>
          <ns0:nvPr/>
        </ns0:nvSpPr>
        <ns0:spPr>
          <ns1:xfrm>
            <ns1:off x="6238620" y="3136999"/>
            <ns1:ext cx="5297851" cy="23247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45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Full-Stack Architecture</ns1:t>
            </ns1:r>
            <ns1:endParaRPr lang="en-US" sz="1450" dirty="0"/>
          </ns1:p>
        </ns0:txBody>
      </ns0:sp>
      <ns0:sp>
        <ns0:nvSpPr>
          <ns0:cNvPr id="11" name="Text 7"/>
          <ns0:cNvSpPr/>
          <ns0:nvPr/>
        </ns0:nvSpPr>
        <ns0:spPr>
          <ns1:xfrm>
            <ns1:off x="6238620" y="3486646"/>
            <ns1:ext cx="5297851" cy="74394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l" indent="0" marL="0">
              <ns1:lnSpc>
                <ns1:spcPct val="119000"/>
              </ns1:lnSpc>
              <ns1:spcAft>
                <ns1:spcPts val="800"/>
              </ns1:spcAft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Every layer serves one goal</ns1:t>
            </ns1:r>
            <ns1:endParaRPr lang="en-US" sz="1150" dirty="0"/>
          </ns1:p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Transform raw event timestamps into a clear, data-driven recommendation a manager can act on immediately.</ns1:t>
            </ns1:r>
            <ns1:endParaRPr lang="en-US" sz="1150" dirty="0"/>
          </ns1:p>
        </ns0:txBody>
      </ns0:sp>
      <ns0:pic>
        <ns0:nvPicPr>
          <ns0:cNvPr id="12" name="Image 2" descr="preencoded.png">    </ns0:cNvPr>
          <ns0:cNvPicPr>
            <ns1:picLocks noChangeAspect="1"/>
          </ns0:cNvPicPr>
          <ns0:nvPr/>
        </ns0:nvPicPr>
        <ns0:blipFill>
          <ns1:blip ns2:embed="rId3">
            <ns1:extLst>
              <ns1:ext uri="{96DAC541-7B7A-43D3-8B79-37D633B846F1}">
                <ns3:svgBlip ns2:embed="rId4"/>
              </ns1:ext>
            </ns1:extLst>
          </ns1:blip>
          <ns1:stretch>
            <ns1:fillRect/>
          </ns1:stretch>
        </ns0:blipFill>
        <ns0:spPr>
          <ns1:xfrm>
            <ns1:off x="5233360" y="4467920"/>
            <ns1:ext cx="3089793" cy="851297"/>
          </ns1:xfrm>
          <ns1:prstGeom prst="rect">
            <ns1:avLst/>
          </ns1:prstGeom>
        </ns0:spPr>
      </ns0:pic>
      <ns0:sp>
        <ns0:nvSpPr>
          <ns0:cNvPr id="13" name="Text 8"/>
          <ns0:cNvSpPr/>
          <ns0:nvPr/>
        </ns0:nvSpPr>
        <ns0:spPr>
          <ns1:xfrm>
            <ns1:off x="5477433" y="4635798"/>
            <ns1:ext cx="2677847" cy="23247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4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Deterministic Engine</ns1:t>
            </ns1:r>
            <ns1:endParaRPr lang="en-US" sz="1450" dirty="0"/>
          </ns1:p>
        </ns0:txBody>
      </ns0:sp>
      <ns0:sp>
        <ns0:nvSpPr>
          <ns0:cNvPr id="14" name="Text 9"/>
          <ns0:cNvSpPr/>
          <ns0:nvPr/>
        </ns0:nvSpPr>
        <ns0:spPr>
          <ns1:xfrm>
            <ns1:off x="5477433" y="4938514"/>
            <ns1:ext cx="2677847" cy="21282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TypeScript · Next.js 16</ns1:t>
            </ns1:r>
            <ns1:endParaRPr lang="en-US" sz="1150" dirty="0"/>
          </ns1:p>
        </ns0:txBody>
      </ns0:sp>
      <ns0:pic>
        <ns0:nvPicPr>
          <ns0:cNvPr id="15" name="Image 3" descr="preencoded.png">    </ns0:cNvPr>
          <ns0:cNvPicPr>
            <ns1:picLocks noChangeAspect="1"/>
          </ns0:cNvPicPr>
          <ns0:nvPr/>
        </ns0:nvPicPr>
        <ns0:blipFill>
          <ns1:blip ns2:embed="rId5">
            <ns1:extLst>
              <ns1:ext uri="{96DAC541-7B7A-43D3-8B79-37D633B846F1}">
                <ns3:svgBlip ns2:embed="rId6"/>
              </ns1:ext>
            </ns1:extLst>
          </ns1:blip>
          <ns1:stretch>
            <ns1:fillRect/>
          </ns1:stretch>
        </ns0:blipFill>
        <ns0:spPr>
          <ns1:xfrm>
            <ns1:off x="8440328" y="4467920"/>
            <ns1:ext cx="3089892" cy="851297"/>
          </ns1:xfrm>
          <ns1:prstGeom prst="rect">
            <ns1:avLst/>
          </ns1:prstGeom>
        </ns0:spPr>
      </ns0:pic>
      <ns0:sp>
        <ns0:nvSpPr>
          <ns0:cNvPr id="16" name="Text 10"/>
          <ns0:cNvSpPr/>
          <ns0:nvPr/>
        </ns0:nvSpPr>
        <ns0:spPr>
          <ns1:xfrm>
            <ns1:off x="8684400" y="4635798"/>
            <ns1:ext cx="2677946" cy="23247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4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Predictive ML Service</ns1:t>
            </ns1:r>
            <ns1:endParaRPr lang="en-US" sz="1450" dirty="0"/>
          </ns1:p>
        </ns0:txBody>
      </ns0:sp>
      <ns0:sp>
        <ns0:nvSpPr>
          <ns0:cNvPr id="17" name="Text 11"/>
          <ns0:cNvSpPr/>
          <ns0:nvPr/>
        </ns0:nvSpPr>
        <ns0:spPr>
          <ns1:xfrm>
            <ns1:off x="8684400" y="4938514"/>
            <ns1:ext cx="2677946" cy="21282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Python · FastAPI · Scikit-learn</ns1:t>
            </ns1:r>
            <ns1:endParaRPr lang="en-US" sz="1150" dirty="0"/>
          </ns1:p>
        </ns0:txBody>
      </ns0:sp>
      <ns0:pic>
        <ns0:nvPicPr>
          <ns0:cNvPr id="18" name="Image 4" descr="preencoded.png">    </ns0:cNvPr>
          <ns0:cNvPicPr>
            <ns1:picLocks noChangeAspect="1"/>
          </ns0:cNvPicPr>
          <ns0:nvPr/>
        </ns0:nvPicPr>
        <ns0:blipFill>
          <ns1:blip ns2:embed="rId7">
            <ns1:extLst>
              <ns1:ext uri="{96DAC541-7B7A-43D3-8B79-37D633B846F1}">
                <ns3:svgBlip ns2:embed="rId8"/>
              </ns1:ext>
            </ns1:extLst>
          </ns1:blip>
          <ns1:stretch>
            <ns1:fillRect/>
          </ns1:stretch>
        </ns0:blipFill>
        <ns0:spPr>
          <ns1:xfrm>
            <ns1:off x="5233360" y="5436394"/>
            <ns1:ext cx="3089793" cy="851297"/>
          </ns1:xfrm>
          <ns1:prstGeom prst="rect">
            <ns1:avLst/>
          </ns1:prstGeom>
        </ns0:spPr>
      </ns0:pic>
      <ns0:sp>
        <ns0:nvSpPr>
          <ns0:cNvPr id="19" name="Text 12"/>
          <ns0:cNvSpPr/>
          <ns0:nvPr/>
        </ns0:nvSpPr>
        <ns0:spPr>
          <ns1:xfrm>
            <ns1:off x="5477433" y="5604272"/>
            <ns1:ext cx="2677847" cy="23247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4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Simulation &amp; GenAI</ns1:t>
            </ns1:r>
            <ns1:endParaRPr lang="en-US" sz="1450" dirty="0"/>
          </ns1:p>
        </ns0:txBody>
      </ns0:sp>
      <ns0:sp>
        <ns0:nvSpPr>
          <ns0:cNvPr id="20" name="Text 13"/>
          <ns0:cNvSpPr/>
          <ns0:nvPr/>
        </ns0:nvSpPr>
        <ns0:spPr>
          <ns1:xfrm>
            <ns1:off x="5477433" y="5906988"/>
            <ns1:ext cx="2677847" cy="21282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Kingman Math · Google Gemini API</ns1:t>
            </ns1:r>
            <ns1:endParaRPr lang="en-US" sz="1150" dirty="0"/>
          </ns1:p>
        </ns0:txBody>
      </ns0:sp>
      <ns0:pic>
        <ns0:nvPicPr>
          <ns0:cNvPr id="21" name="Image 5" descr="preencoded.png">    </ns0:cNvPr>
          <ns0:cNvPicPr>
            <ns1:picLocks noChangeAspect="1"/>
          </ns0:cNvPicPr>
          <ns0:nvPr/>
        </ns0:nvPicPr>
        <ns0:blipFill>
          <ns1:blip ns2:embed="rId9">
            <ns1:extLst>
              <ns1:ext uri="{96DAC541-7B7A-43D3-8B79-37D633B846F1}">
                <ns3:svgBlip ns2:embed="rId10"/>
              </ns1:ext>
            </ns1:extLst>
          </ns1:blip>
          <ns1:stretch>
            <ns1:fillRect/>
          </ns1:stretch>
        </ns0:blipFill>
        <ns0:spPr>
          <ns1:xfrm>
            <ns1:off x="8440328" y="5436394"/>
            <ns1:ext cx="3089892" cy="851297"/>
          </ns1:xfrm>
          <ns1:prstGeom prst="rect">
            <ns1:avLst/>
          </ns1:prstGeom>
        </ns0:spPr>
      </ns0:pic>
      <ns0:sp>
        <ns0:nvSpPr>
          <ns0:cNvPr id="22" name="Text 14"/>
          <ns0:cNvSpPr/>
          <ns0:nvPr/>
        </ns0:nvSpPr>
        <ns0:spPr>
          <ns1:xfrm>
            <ns1:off x="8684400" y="5604272"/>
            <ns1:ext cx="2677946" cy="23247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4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Executive Dashboard &amp; Data</ns1:t>
            </ns1:r>
            <ns1:endParaRPr lang="en-US" sz="1450" dirty="0"/>
          </ns1:p>
        </ns0:txBody>
      </ns0:sp>
      <ns0:sp>
        <ns0:nvSpPr>
          <ns0:cNvPr id="23" name="Text 15"/>
          <ns0:cNvSpPr/>
          <ns0:nvPr/>
        </ns0:nvSpPr>
        <ns0:spPr>
          <ns1:xfrm>
            <ns1:off x="8684400" y="5906988"/>
            <ns1:ext cx="2677946" cy="21282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9000"/>
              </ns1:lnSpc>
              <ns1:buNone/>
            </ns1:pPr>
            <ns1:r>
              <ns1:rPr lang="en-US" sz="115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React 19 · Tailwind · Supabase PostgreSQL</ns1:t>
            </ns1:r>
            <ns1:endParaRPr lang="en-US" sz="115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 xmlns:ns4="http://schemas.microsoft.com/office/drawing/2016/SVG/main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/>
          <ns0:nvPr/>
        </ns0:nvSpPr>
        <ns0:spPr>
          <ns1:xfrm>
            <ns1:off x="661475" y="657225"/>
            <ns1:ext cx="10868745" cy="44301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275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Beyond Bottleneck Detection</ns1:t>
            </ns1:r>
            <ns1:endParaRPr lang="en-US" sz="2750" dirty="0"/>
          </ns1:p>
        </ns0:txBody>
      </ns0:sp>
      <ns0:sp>
        <ns0:nvSpPr>
          <ns0:cNvPr id="3" name="Text 1"/>
          <ns0:cNvSpPr/>
          <ns0:nvPr/>
        </ns0:nvSpPr>
        <ns0:spPr>
          <ns1:xfrm>
            <ns1:off x="661475" y="1365945"/>
            <ns1:ext cx="5261439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Traditional Analytics vs. FlowLens AI Engine</ns1:t>
            </ns1:r>
            <ns1:endParaRPr lang="en-US" sz="1350" dirty="0"/>
          </ns1:p>
        </ns0:txBody>
      </ns0:sp>
      <ns0:graphicFrame>
        <ns0:nvGraphicFramePr>
          <ns0:cNvPr id="6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661475" y="1706959"/>
          <ns1:ext cx="9143771" cy="914400"/>
        </ns0:xfrm>
        <ns1:graphic>
          <ns1:graphicData uri="http://schemas.openxmlformats.org/drawingml/2006/table">
            <ns1:tbl>
              <ns1:tblPr/>
              <ns1:tblGrid>
                <ns1:gridCol w="2630719"/>
                <ns1:gridCol w="2630719"/>
              </ns1:tblGrid>
              <ns1:tr h="341701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FFFFF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Traditional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211E24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211E24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272525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FlowLens AI Engine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FF6BD8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6BD8"/>
                    </ns1:solidFill>
                  </ns1:tcPr>
                </ns1:tc>
              </ns1:tr>
              <ns1:tr h="344876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Shows overall delay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Pinpoints exact 6-signal Bottleneck DNA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344876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Reports what happened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Root-cause attribution (resource &amp; queue)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344876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Static analysis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Predictive ML (forecasting &amp; anomalies)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344876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Identifies problem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Tests interventions via Kingman simulation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  <ns1:tr h="341701"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Historical view only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  <ns1:tc>
                  <ns1:txBody>
                    <ns1:bodyPr/>
                    <ns1:lstStyle/>
                    <ns1:p>
                      <ns1:pPr algn="l"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BFBFBF"/>
                          </ns1:solidFill>
                          <ns1:latin typeface="Open Sans" pitchFamily="34" charset="0"/>
                          <ns1:ea typeface="Open Sans" pitchFamily="34" charset="-122"/>
                          <ns1:cs typeface="Open Sans" pitchFamily="34" charset="-120"/>
                        </ns1:rPr>
                        <ns1:t>Gemini AI executive narration &amp; actions</ns1:t>
                      </ns1:r>
                      <ns1:endParaRPr lang="en-US" sz="1100" dirty="0">
                        <ns1:latin typeface="Open Sans" charset="0"/>
                        <ns1:ea typeface="Open Sans" charset="0"/>
                        <ns1:cs typeface="Open Sans" charset="0"/>
                      </ns1:endParaRPr>
                    </ns1:p>
                  </ns1:txBody>
                  <ns1:tcPr marL="141764" marR="141764" marT="6350" marB="6350" anchor="ctr">
                    <ns1:lnL w="12700" cap="flat" cmpd="sng" algn="ctr">
                      <ns1:solidFill>
                        <ns1:srgbClr val="1F1F1F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55555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</ns1:tcPr>
                </ns1:tc>
              </ns1:tr>
            </ns1:tbl>
          </ns1:graphicData>
        </ns1:graphic>
      </ns0:graphicFrame>
      <ns0:sp>
        <ns0:nvSpPr>
          <ns0:cNvPr id="5" name="Text 2"/>
          <ns0:cNvSpPr/>
          <ns0:nvPr/>
        </ns0:nvSpPr>
        <ns0:spPr>
          <ns1:xfrm>
            <ns1:off x="6275131" y="1365945"/>
            <ns1:ext cx="5261439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Scalability</ns1:t>
            </ns1:r>
            <ns1:endParaRPr lang="en-US" sz="1350" dirty="0"/>
          </ns1:p>
        </ns0:txBody>
      </ns0:sp>
      <ns0:sp>
        <ns0:nvSpPr>
          <ns0:cNvPr id="6" name="Text 3"/>
          <ns0:cNvSpPr/>
          <ns0:nvPr/>
        </ns0:nvSpPr>
        <ns0:spPr>
          <ns1:xfrm>
            <ns1:off x="6275131" y="1693664"/>
            <ns1:ext cx="5261439" cy="3968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17000"/>
              </ns1:lnSpc>
              <ns1:buNone/>
            </ns1:pPr>
            <ns1:r>
              <ns1:rPr lang="en-US" sz="11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A </ns1:t>
            </ns1:r>
            <ns1:pPr algn="l" indent="0" marL="0">
              <ns1:lnSpc>
                <ns1:spcPct val="117000"/>
              </ns1:lnSpc>
              <ns1:buNone/>
            </ns1:pPr>
            <ns1:r>
              <ns1:rPr lang="en-US" sz="11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>domain-independent engine</ns1:t>
            </ns1:r>
            <ns1:pPr algn="l" indent="0" marL="0">
              <ns1:lnSpc>
                <ns1:spcPct val="117000"/>
              </ns1:lnSpc>
              <ns1:buNone/>
            </ns1:pPr>
            <ns1:r>
              <ns1:rPr lang="en-US" sz="11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 that learns from process event data rather than relying on fixed bottleneck rules.</ns1:t>
            </ns1:r>
            <ns1:endParaRPr lang="en-US" sz="1100" dirty="0"/>
          </ns1:p>
        </ns0:txBody>
      </ns0:sp>
      <ns0:sp>
        <ns0:nvSpPr>
          <ns0:cNvPr id="7" name="Shape 4"/>
          <ns0:cNvSpPr/>
          <ns0:nvPr/>
        </ns0:nvSpPr>
        <ns0:spPr>
          <ns1:xfrm>
            <ns1:off x="6275131" y="2210098"/>
            <ns1:ext cx="5261439" cy="460573"/>
          </ns1:xfrm>
          <ns1:prstGeom prst="roundRect">
            <ns1:avLst>
              <ns1:gd name="adj" fmla="val 4617"/>
            </ns1:avLst>
          </ns1:prstGeom>
          <ns1:solidFill>
            <ns1:srgbClr val="797907"/>
          </ns1:solidFill>
          <ns1:ln/>
        </ns0:spPr>
      </ns0:sp>
      <ns0:pic>
        <ns0:nvPicPr>
          <ns0:cNvPr id="8" name="Image 0" descr="preencoded.png">    </ns0:cNvPr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6416812" y="2380159"/>
            <ns1:ext cx="177200" cy="141684"/>
          </ns1:xfrm>
          <ns1:prstGeom prst="rect">
            <ns1:avLst/>
          </ns1:prstGeom>
        </ns0:spPr>
      </ns0:pic>
      <ns0:sp>
        <ns0:nvSpPr>
          <ns0:cNvPr id="9" name="Text 5"/>
          <ns0:cNvSpPr/>
          <ns0:nvPr/>
        </ns0:nvSpPr>
        <ns0:spPr>
          <ns1:xfrm>
            <ns1:off x="6735693" y="2341166"/>
            <ns1:ext cx="5268781" cy="19843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7000"/>
              </ns1:lnSpc>
              <ns1:buNone/>
            </ns1:pPr>
            <ns1:r>
              <ns1:rPr lang="en-US" sz="1100" b="1" dirty="0">
                <ns1:solidFill>
                  <ns1:srgbClr val="FFFFF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>DETERMINISTIC → PREDICTIVE ML → SIMULATION → GEMINI</ns1:t>
            </ns1:r>
            <ns1:endParaRPr lang="en-US" sz="1100" dirty="0"/>
          </ns1:p>
        </ns0:txBody>
      </ns0:sp>
      <ns0:sp>
        <ns0:nvSpPr>
          <ns0:cNvPr id="10" name="Shape 6"/>
          <ns0:cNvSpPr/>
          <ns0:nvPr/>
        </ns0:nvSpPr>
        <ns0:spPr>
          <ns1:xfrm>
            <ns1:off x="661475" y="4021733"/>
            <ns1:ext cx="2637466" cy="1036340"/>
          </ns1:xfrm>
          <ns1:prstGeom prst="roundRect">
            <ns1:avLst>
              <ns1:gd name="adj" fmla="val 2052"/>
            </ns1:avLst>
          </ns1:prstGeom>
          <ns1:solidFill>
            <ns1:srgbClr val="3E3E3E"/>
          </ns1:solidFill>
          <ns1:ln/>
        </ns0:spPr>
      </ns0:sp>
      <ns0:sp>
        <ns0:nvSpPr>
          <ns0:cNvPr id="11" name="Shape 7"/>
          <ns0:cNvSpPr/>
          <ns0:nvPr/>
        </ns0:nvSpPr>
        <ns0:spPr>
          <ns1:xfrm>
            <ns1:off x="803156" y="4163417"/>
            <ns1:ext cx="425241" cy="425252"/>
          </ns1:xfrm>
          <ns1:prstGeom prst="ellipse">
            <ns1:avLst/>
          </ns1:prstGeom>
          <ns1:solidFill>
            <ns1:srgbClr val="F5F547"/>
          </ns1:solidFill>
          <ns1:ln/>
        </ns0:spPr>
      </ns0:sp>
      <ns0:pic>
        <ns0:nvPicPr>
          <ns0:cNvPr id="12" name="Image 1" descr="preencoded.png">    </ns0:cNvPr>
          <ns0:cNvPicPr>
            <ns1:picLocks noChangeAspect="1"/>
          </ns0:cNvPicPr>
          <ns0:nvPr/>
        </ns0:nvPicPr>
        <ns0:blipFill>
          <ns1:blip ns3:embed="rId2">
            <ns1:extLst>
              <ns1:ext uri="{96DAC541-7B7A-43D3-8B79-37D633B846F1}">
                <ns4:svgBlip ns3:embed="rId3"/>
              </ns1:ext>
            </ns1:extLst>
          </ns1:blip>
          <ns1:stretch>
            <ns1:fillRect/>
          </ns1:stretch>
        </ns0:blipFill>
        <ns0:spPr>
          <ns1:xfrm>
            <ns1:off x="920132" y="4280297"/>
            <ns1:ext cx="191289" cy="191294"/>
          </ns1:xfrm>
          <ns1:prstGeom prst="rect">
            <ns1:avLst/>
          </ns1:prstGeom>
        </ns0:spPr>
      </ns0:pic>
      <ns0:sp>
        <ns0:nvSpPr>
          <ns0:cNvPr id="13" name="Text 8"/>
          <ns0:cNvSpPr/>
          <ns0:nvPr/>
        </ns0:nvSpPr>
        <ns0:spPr>
          <ns1:xfrm>
            <ns1:off x="803156" y="4694932"/>
            <ns1:ext cx="2354104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Healthcare</ns1:t>
            </ns1:r>
            <ns1:endParaRPr lang="en-US" sz="1350" dirty="0"/>
          </ns1:p>
        </ns0:txBody>
      </ns0:sp>
      <ns0:sp>
        <ns0:nvSpPr>
          <ns0:cNvPr id="14" name="Shape 9"/>
          <ns0:cNvSpPr/>
          <ns0:nvPr/>
        </ns0:nvSpPr>
        <ns0:spPr>
          <ns1:xfrm>
            <ns1:off x="3405202" y="4021733"/>
            <ns1:ext cx="2637466" cy="1036340"/>
          </ns1:xfrm>
          <ns1:prstGeom prst="roundRect">
            <ns1:avLst>
              <ns1:gd name="adj" fmla="val 2052"/>
            </ns1:avLst>
          </ns1:prstGeom>
          <ns1:solidFill>
            <ns1:srgbClr val="3E3E3E"/>
          </ns1:solidFill>
          <ns1:ln/>
        </ns0:spPr>
      </ns0:sp>
      <ns0:sp>
        <ns0:nvSpPr>
          <ns0:cNvPr id="15" name="Shape 10"/>
          <ns0:cNvSpPr/>
          <ns0:nvPr/>
        </ns0:nvSpPr>
        <ns0:spPr>
          <ns1:xfrm>
            <ns1:off x="3546882" y="4163417"/>
            <ns1:ext cx="425241" cy="425252"/>
          </ns1:xfrm>
          <ns1:prstGeom prst="ellipse">
            <ns1:avLst/>
          </ns1:prstGeom>
          <ns1:solidFill>
            <ns1:srgbClr val="F5F547"/>
          </ns1:solidFill>
          <ns1:ln/>
        </ns0:spPr>
      </ns0:sp>
      <ns0:pic>
        <ns0:nvPicPr>
          <ns0:cNvPr id="16" name="Image 2" descr="preencoded.png">    </ns0:cNvPr>
          <ns0:cNvPicPr>
            <ns1:picLocks noChangeAspect="1"/>
          </ns0:cNvPicPr>
          <ns0:nvPr/>
        </ns0:nvPicPr>
        <ns0:blipFill>
          <ns1:blip ns3:embed="rId4">
            <ns1:extLst>
              <ns1:ext uri="{96DAC541-7B7A-43D3-8B79-37D633B846F1}">
                <ns4:svgBlip ns3:embed="rId5"/>
              </ns1:ext>
            </ns1:extLst>
          </ns1:blip>
          <ns1:stretch>
            <ns1:fillRect/>
          </ns1:stretch>
        </ns0:blipFill>
        <ns0:spPr>
          <ns1:xfrm>
            <ns1:off x="3663858" y="4280297"/>
            <ns1:ext cx="191289" cy="191294"/>
          </ns1:xfrm>
          <ns1:prstGeom prst="rect">
            <ns1:avLst/>
          </ns1:prstGeom>
        </ns0:spPr>
      </ns0:pic>
      <ns0:sp>
        <ns0:nvSpPr>
          <ns0:cNvPr id="17" name="Text 11"/>
          <ns0:cNvSpPr/>
          <ns0:nvPr/>
        </ns0:nvSpPr>
        <ns0:spPr>
          <ns1:xfrm>
            <ns1:off x="3546882" y="4694932"/>
            <ns1:ext cx="2354104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Manufacturing</ns1:t>
            </ns1:r>
            <ns1:endParaRPr lang="en-US" sz="1350" dirty="0"/>
          </ns1:p>
        </ns0:txBody>
      </ns0:sp>
      <ns0:sp>
        <ns0:nvSpPr>
          <ns0:cNvPr id="18" name="Shape 12"/>
          <ns0:cNvSpPr/>
          <ns0:nvPr/>
        </ns0:nvSpPr>
        <ns0:spPr>
          <ns1:xfrm>
            <ns1:off x="6148928" y="4021733"/>
            <ns1:ext cx="2637466" cy="1036340"/>
          </ns1:xfrm>
          <ns1:prstGeom prst="roundRect">
            <ns1:avLst>
              <ns1:gd name="adj" fmla="val 2052"/>
            </ns1:avLst>
          </ns1:prstGeom>
          <ns1:solidFill>
            <ns1:srgbClr val="3E3E3E"/>
          </ns1:solidFill>
          <ns1:ln/>
        </ns0:spPr>
      </ns0:sp>
      <ns0:sp>
        <ns0:nvSpPr>
          <ns0:cNvPr id="19" name="Shape 13"/>
          <ns0:cNvSpPr/>
          <ns0:nvPr/>
        </ns0:nvSpPr>
        <ns0:spPr>
          <ns1:xfrm>
            <ns1:off x="6290609" y="4163417"/>
            <ns1:ext cx="425241" cy="425252"/>
          </ns1:xfrm>
          <ns1:prstGeom prst="ellipse">
            <ns1:avLst/>
          </ns1:prstGeom>
          <ns1:solidFill>
            <ns1:srgbClr val="F5F547"/>
          </ns1:solidFill>
          <ns1:ln/>
        </ns0:spPr>
      </ns0:sp>
      <ns0:pic>
        <ns0:nvPicPr>
          <ns0:cNvPr id="20" name="Image 3" descr="preencoded.png">    </ns0:cNvPr>
          <ns0:cNvPicPr>
            <ns1:picLocks noChangeAspect="1"/>
          </ns0:cNvPicPr>
          <ns0:nvPr/>
        </ns0:nvPicPr>
        <ns0:blipFill>
          <ns1:blip ns3:embed="rId6">
            <ns1:extLst>
              <ns1:ext uri="{96DAC541-7B7A-43D3-8B79-37D633B846F1}">
                <ns4:svgBlip ns3:embed="rId7"/>
              </ns1:ext>
            </ns1:extLst>
          </ns1:blip>
          <ns1:stretch>
            <ns1:fillRect/>
          </ns1:stretch>
        </ns0:blipFill>
        <ns0:spPr>
          <ns1:xfrm>
            <ns1:off x="6407585" y="4280297"/>
            <ns1:ext cx="191289" cy="191294"/>
          </ns1:xfrm>
          <ns1:prstGeom prst="rect">
            <ns1:avLst/>
          </ns1:prstGeom>
        </ns0:spPr>
      </ns0:pic>
      <ns0:sp>
        <ns0:nvSpPr>
          <ns0:cNvPr id="21" name="Text 14"/>
          <ns0:cNvSpPr/>
          <ns0:nvPr/>
        </ns0:nvSpPr>
        <ns0:spPr>
          <ns1:xfrm>
            <ns1:off x="6290609" y="4694932"/>
            <ns1:ext cx="2354104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Logistics</ns1:t>
            </ns1:r>
            <ns1:endParaRPr lang="en-US" sz="1350" dirty="0"/>
          </ns1:p>
        </ns0:txBody>
      </ns0:sp>
      <ns0:sp>
        <ns0:nvSpPr>
          <ns0:cNvPr id="22" name="Shape 15"/>
          <ns0:cNvSpPr/>
          <ns0:nvPr/>
        </ns0:nvSpPr>
        <ns0:spPr>
          <ns1:xfrm>
            <ns1:off x="8892655" y="4021733"/>
            <ns1:ext cx="2637565" cy="1036340"/>
          </ns1:xfrm>
          <ns1:prstGeom prst="roundRect">
            <ns1:avLst>
              <ns1:gd name="adj" fmla="val 2052"/>
            </ns1:avLst>
          </ns1:prstGeom>
          <ns1:solidFill>
            <ns1:srgbClr val="3E3E3E"/>
          </ns1:solidFill>
          <ns1:ln/>
        </ns0:spPr>
      </ns0:sp>
      <ns0:sp>
        <ns0:nvSpPr>
          <ns0:cNvPr id="23" name="Shape 16"/>
          <ns0:cNvSpPr/>
          <ns0:nvPr/>
        </ns0:nvSpPr>
        <ns0:spPr>
          <ns1:xfrm>
            <ns1:off x="9034336" y="4163417"/>
            <ns1:ext cx="425241" cy="425252"/>
          </ns1:xfrm>
          <ns1:prstGeom prst="ellipse">
            <ns1:avLst/>
          </ns1:prstGeom>
          <ns1:solidFill>
            <ns1:srgbClr val="F5F547"/>
          </ns1:solidFill>
          <ns1:ln/>
        </ns0:spPr>
      </ns0:sp>
      <ns0:pic>
        <ns0:nvPicPr>
          <ns0:cNvPr id="24" name="Image 4" descr="preencoded.png">    </ns0:cNvPr>
          <ns0:cNvPicPr>
            <ns1:picLocks noChangeAspect="1"/>
          </ns0:cNvPicPr>
          <ns0:nvPr/>
        </ns0:nvPicPr>
        <ns0:blipFill>
          <ns1:blip ns3:embed="rId8">
            <ns1:extLst>
              <ns1:ext uri="{96DAC541-7B7A-43D3-8B79-37D633B846F1}">
                <ns4:svgBlip ns3:embed="rId9"/>
              </ns1:ext>
            </ns1:extLst>
          </ns1:blip>
          <ns1:stretch>
            <ns1:fillRect/>
          </ns1:stretch>
        </ns0:blipFill>
        <ns0:spPr>
          <ns1:xfrm>
            <ns1:off x="9151312" y="4280297"/>
            <ns1:ext cx="191289" cy="191294"/>
          </ns1:xfrm>
          <ns1:prstGeom prst="rect">
            <ns1:avLst/>
          </ns1:prstGeom>
        </ns0:spPr>
      </ns0:pic>
      <ns0:sp>
        <ns0:nvSpPr>
          <ns0:cNvPr id="25" name="Text 17"/>
          <ns0:cNvSpPr/>
          <ns0:nvPr/>
        </ns0:nvSpPr>
        <ns0:spPr>
          <ns1:xfrm>
            <ns1:off x="9034336" y="4694932"/>
            <ns1:ext cx="2354204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Banking</ns1:t>
            </ns1:r>
            <ns1:endParaRPr lang="en-US" sz="1350" dirty="0"/>
          </ns1:p>
        </ns0:txBody>
      </ns0:sp>
      <ns0:sp>
        <ns0:nvSpPr>
          <ns0:cNvPr id="26" name="Shape 18"/>
          <ns0:cNvSpPr/>
          <ns0:nvPr/>
        </ns0:nvSpPr>
        <ns0:spPr>
          <ns1:xfrm>
            <ns1:off x="661475" y="5164336"/>
            <ns1:ext cx="10868745" cy="1036340"/>
          </ns1:xfrm>
          <ns1:prstGeom prst="roundRect">
            <ns1:avLst>
              <ns1:gd name="adj" fmla="val 2052"/>
            </ns1:avLst>
          </ns1:prstGeom>
          <ns1:solidFill>
            <ns1:srgbClr val="3E3E3E"/>
          </ns1:solidFill>
          <ns1:ln/>
        </ns0:spPr>
      </ns0:sp>
      <ns0:sp>
        <ns0:nvSpPr>
          <ns0:cNvPr id="27" name="Shape 19"/>
          <ns0:cNvSpPr/>
          <ns0:nvPr/>
        </ns0:nvSpPr>
        <ns0:spPr>
          <ns1:xfrm>
            <ns1:off x="803156" y="5306020"/>
            <ns1:ext cx="425241" cy="425252"/>
          </ns1:xfrm>
          <ns1:prstGeom prst="ellipse">
            <ns1:avLst/>
          </ns1:prstGeom>
          <ns1:solidFill>
            <ns1:srgbClr val="F5F547"/>
          </ns1:solidFill>
          <ns1:ln/>
        </ns0:spPr>
      </ns0:sp>
      <ns0:pic>
        <ns0:nvPicPr>
          <ns0:cNvPr id="28" name="Image 5" descr="preencoded.png">    </ns0:cNvPr>
          <ns0:cNvPicPr>
            <ns1:picLocks noChangeAspect="1"/>
          </ns0:cNvPicPr>
          <ns0:nvPr/>
        </ns0:nvPicPr>
        <ns0:blipFill>
          <ns1:blip ns3:embed="rId10">
            <ns1:extLst>
              <ns1:ext uri="{96DAC541-7B7A-43D3-8B79-37D633B846F1}">
                <ns4:svgBlip ns3:embed="rId11"/>
              </ns1:ext>
            </ns1:extLst>
          </ns1:blip>
          <ns1:stretch>
            <ns1:fillRect/>
          </ns1:stretch>
        </ns0:blipFill>
        <ns0:spPr>
          <ns1:xfrm>
            <ns1:off x="920132" y="5422900"/>
            <ns1:ext cx="191289" cy="191294"/>
          </ns1:xfrm>
          <ns1:prstGeom prst="rect">
            <ns1:avLst/>
          </ns1:prstGeom>
        </ns0:spPr>
      </ns0:pic>
      <ns0:sp>
        <ns0:nvSpPr>
          <ns0:cNvPr id="29" name="Text 20"/>
          <ns0:cNvSpPr/>
          <ns0:nvPr/>
        </ns0:nvSpPr>
        <ns0:spPr>
          <ns1:xfrm>
            <ns1:off x="803156" y="5837535"/>
            <ns1:ext cx="10585384" cy="22145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5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Customer Ops</ns1:t>
            </ns1:r>
            <ns1:endParaRPr lang="en-US" sz="1350" dirty="0"/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6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7619809" y="0"/>
            <ns1:ext cx="4571886" cy="6858000"/>
          </ns1:xfrm>
          <ns1:prstGeom prst="rect">
            <ns1:avLst/>
          </ns1:prstGeom>
          <ns1:solidFill>
            <ns1:srgbClr val="3E3E3E"/>
          </ns1:solidFill>
          <ns1:ln/>
        </ns0:spPr>
      </ns0:sp>
      <ns0:pic>
        <ns0:nvPicPr>
          <ns0:cNvPr id="3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685887" y="469106"/>
            <ns1:ext cx="4439730" cy="5919787"/>
          </ns1:xfrm>
          <ns1:prstGeom prst="rect">
            <ns1:avLst/>
          </ns1:prstGeom>
        </ns0:spPr>
      </ns0:pic>
      <ns0:sp>
        <ns0:nvSpPr>
          <ns0:cNvPr id="4" name="Text 1"/>
          <ns0:cNvSpPr/>
          <ns0:nvPr/>
        </ns0:nvSpPr>
        <ns0:spPr>
          <ns1:xfrm>
            <ns1:off x="661475" y="641548"/>
            <ns1:ext cx="6296860" cy="82688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2600" dirty="0">
                <ns1:solidFill>
                  <ns1:srgbClr val="FEFEFE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FROM "WE HAVE A DELAY" TO "HERE'S WHAT TO DO."</ns1:t>
            </ns1:r>
            <ns1:endParaRPr lang="en-US" sz="2600" dirty="0"/>
          </ns1:p>
        </ns0:txBody>
      </ns0:sp>
      <ns0:sp>
        <ns0:nvSpPr>
          <ns0:cNvPr id="5" name="Shape 2"/>
          <ns0:cNvSpPr/>
          <ns0:nvPr/>
        </ns0:nvSpPr>
        <ns0:spPr>
          <ns1:xfrm>
            <ns1:off x="661475" y="1607344"/>
            <ns1:ext cx="6296860" cy="942280"/>
          </ns1:xfrm>
          <ns1:prstGeom prst="roundRect">
            <ns1:avLst>
              <ns1:gd name="adj" fmla="val 2106"/>
            </ns1:avLst>
          </ns1:prstGeom>
          <ns1:solidFill>
            <ns1:srgbClr val="3E3E3E"/>
          </ns1:solidFill>
          <ns1:ln/>
        </ns0:spPr>
      </ns0:sp>
      <ns0:sp>
        <ns0:nvSpPr>
          <ns0:cNvPr id="6" name="Text 3"/>
          <ns0:cNvSpPr/>
          <ns0:nvPr/>
        </ns0:nvSpPr>
        <ns0:spPr>
          <ns1:xfrm>
            <ns1:off x="793730" y="1739602"/>
            <ns1:ext cx="6032349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📊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> PROCESS INSIGHT</ns1:t>
            </ns1:r>
            <ns1:endParaRPr lang="en-US" sz="1300" dirty="0"/>
          </ns1:p>
        </ns0:txBody>
      </ns0:sp>
      <ns0:sp>
        <ns0:nvSpPr>
          <ns0:cNvPr id="7" name="Text 4"/>
          <ns0:cNvSpPr/>
          <ns0:nvPr/>
        </ns0:nvSpPr>
        <ns0:spPr>
          <ns1:xfrm>
            <ns1:off x="793730" y="2001837"/>
            <ns1:ext cx="6032349" cy="4155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l" indent="0" marL="0">
              <ns1:lnSpc>
                <ns1:spcPct val="113000"/>
              </ns1:lnSpc>
              <ns1:spcAft>
                <ns1:spcPts val="400"/>
              </ns1:spcAft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Cases Analyzed: 10 (Verified Benchmark)</ns1:t>
            </ns1:r>
            <ns1:pPr algn="l" indent="0" marL="0">
              <ns1:lnSpc>
                <ns1:spcPct val="113000"/>
              </ns1:lnSpc>
              <ns1:spcAft>
                <ns1:spcPts val="400"/>
              </ns1:spcAft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Avg Cycle Time: 5h 45m</ns1:t>
            </ns1:r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</ns0:txBody>
      </ns0:sp>
      <ns0:sp>
        <ns0:nvSpPr>
          <ns0:cNvPr id="8" name="Shape 5"/>
          <ns0:cNvSpPr/>
          <ns0:nvPr/>
        </ns0:nvSpPr>
        <ns0:spPr>
          <ns1:xfrm>
            <ns1:off x="661475" y="2642195"/>
            <ns1:ext cx="6296860" cy="942280"/>
          </ns1:xfrm>
          <ns1:prstGeom prst="roundRect">
            <ns1:avLst>
              <ns1:gd name="adj" fmla="val 2106"/>
            </ns1:avLst>
          </ns1:prstGeom>
          <ns1:solidFill>
            <ns1:srgbClr val="3E3E3E"/>
          </ns1:solidFill>
          <ns1:ln/>
        </ns0:spPr>
      </ns0:sp>
      <ns0:sp>
        <ns0:nvSpPr>
          <ns0:cNvPr id="9" name="Text 6"/>
          <ns0:cNvSpPr/>
          <ns0:nvPr/>
        </ns0:nvSpPr>
        <ns0:spPr>
          <ns1:xfrm>
            <ns1:off x="793730" y="2774454"/>
            <ns1:ext cx="6032349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🔴 BOTTLENECK: VERIFICATION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0" name="Text 7"/>
          <ns0:cNvSpPr/>
          <ns0:nvPr/>
        </ns0:nvSpPr>
        <ns0:spPr>
          <ns1:xfrm>
            <ns1:off x="793730" y="3036689"/>
            <ns1:ext cx="6032349" cy="4155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l" indent="0" marL="0">
              <ns1:lnSpc>
                <ns1:spcPct val="113000"/>
              </ns1:lnSpc>
              <ns1:spcAft>
                <ns1:spcPts val="400"/>
              </ns1:spcAft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Bottleneck Score: 62.5</ns1:t>
            </ns1:r>
            <ns1:pPr algn="l" indent="0" marL="0">
              <ns1:lnSpc>
                <ns1:spcPct val="113000"/>
              </ns1:lnSpc>
              <ns1:spcAft>
                <ns1:spcPts val="400"/>
              </ns1:spcAft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Waiting DNA: 94.2% Queue Delay</ns1:t>
            </ns1:r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</ns0:txBody>
      </ns0:sp>
      <ns0:sp>
        <ns0:nvSpPr>
          <ns0:cNvPr id="11" name="Shape 8"/>
          <ns0:cNvSpPr/>
          <ns0:nvPr/>
        </ns0:nvSpPr>
        <ns0:spPr>
          <ns1:xfrm>
            <ns1:off x="661475" y="3677047"/>
            <ns1:ext cx="6296860" cy="706735"/>
          </ns1:xfrm>
          <ns1:prstGeom prst="roundRect">
            <ns1:avLst>
              <ns1:gd name="adj" fmla="val 2808"/>
            </ns1:avLst>
          </ns1:prstGeom>
          <ns1:solidFill>
            <ns1:srgbClr val="3E3E3E"/>
          </ns1:solidFill>
          <ns1:ln/>
        </ns0:spPr>
      </ns0:sp>
      <ns0:sp>
        <ns0:nvSpPr>
          <ns0:cNvPr id="12" name="Text 9"/>
          <ns0:cNvSpPr/>
          <ns0:nvPr/>
        </ns0:nvSpPr>
        <ns0:spPr>
          <ns1:xfrm>
            <ns1:off x="793730" y="3809305"/>
            <ns1:ext cx="6032349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❓ ROOT CAUSE EVIDENCE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793730" y="4071541"/>
            <ns1:ext cx="6032349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>Hidden queue buildup (15m processing vs 200m queue wait)</ns1:t>
            </ns1:r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/>
            </ns1:r>
            <ns1:endParaRPr lang="en-US" sz="1000" dirty="0"/>
          </ns1:p>
        </ns0:txBody>
      </ns0:sp>
      <ns0:sp>
        <ns0:nvSpPr>
          <ns0:cNvPr id="14" name="Shape 11"/>
          <ns0:cNvSpPr/>
          <ns0:nvPr/>
        </ns0:nvSpPr>
        <ns0:spPr>
          <ns1:xfrm>
            <ns1:off x="661475" y="4476353"/>
            <ns1:ext cx="6296860" cy="942280"/>
          </ns1:xfrm>
          <ns1:prstGeom prst="roundRect">
            <ns1:avLst>
              <ns1:gd name="adj" fmla="val 2106"/>
            </ns1:avLst>
          </ns1:prstGeom>
          <ns1:solidFill>
            <ns1:srgbClr val="3E3E3E"/>
          </ns1:solidFill>
          <ns1:ln/>
        </ns0:spPr>
      </ns0:sp>
      <ns0:sp>
        <ns0:nvSpPr>
          <ns0:cNvPr id="15" name="Text 12"/>
          <ns0:cNvSpPr/>
          <ns0:nvPr/>
        </ns0:nvSpPr>
        <ns0:spPr>
          <ns1:xfrm>
            <ns1:off x="793730" y="4608612"/>
            <ns1:ext cx="6032349" cy="20667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000000"/>
                </ns1:solidFill>
                <ns1:latin typeface="Noto Color Emoji" pitchFamily="34" charset="0"/>
                <ns1:ea typeface="Noto Color Emoji" pitchFamily="34" charset="-122"/>
                <ns1:cs typeface="Noto Color Emoji" pitchFamily="34" charset="-120"/>
              </ns1:rPr>
              <ns1:t>⚡ INTERVENTION &amp; SIMULATION</ns1:t>
            </ns1:r>
            <ns1:pPr algn="l" indent="0" marL="0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BFBFBF"/>
                </ns1:solidFill>
                <ns1:latin typeface="Instrument Sans Medium" pitchFamily="34" charset="0"/>
                <ns1:ea typeface="Instrument Sans Medium" pitchFamily="34" charset="-122"/>
                <ns1:cs typeface="Instrument Sans Medium" pitchFamily="34" charset="-120"/>
              </ns1:rPr>
              <ns1:t/>
            </ns1:r>
            <ns1:endParaRPr lang="en-US" sz="1300" dirty="0"/>
          </ns1:p>
        </ns0:txBody>
      </ns0:sp>
      <ns0:sp>
        <ns0:nvSpPr>
          <ns0:cNvPr id="16" name="Text 13"/>
          <ns0:cNvSpPr/>
          <ns0:nvPr/>
        </ns0:nvSpPr>
        <ns0:spPr>
          <ns1:xfrm>
            <ns1:off x="793730" y="4870847"/>
            <ns1:ext cx="6032349" cy="4155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l" indent="0" marL="0">
              <ns1:lnSpc>
                <ns1:spcPct val="113000"/>
              </ns1:lnSpc>
              <ns1:spcAft>
                <ns1:spcPts val="400"/>
              </ns1:spcAft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+2 Resources to Verification</ns1:t>
            </ns1:r>
            <ns1:endParaRPr lang="en-US" sz="1000" dirty="0"/>
          </ns1:p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Simulated Cycle Time: ↓ 64% (New Bottleneck: Review)</ns1:t>
            </ns1:r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/>
            </ns1:r>
            <ns1:endParaRPr lang="en-US" sz="1000" dirty="0"/>
          </ns1:p>
        </ns0:txBody>
      </ns0:sp>
      <ns0:sp>
        <ns0:nvSpPr>
          <ns0:cNvPr id="17" name="Text 14"/>
          <ns0:cNvSpPr/>
          <ns0:nvPr/>
        </ns0:nvSpPr>
        <ns0:spPr>
          <ns1:xfrm>
            <ns1:off x="859907" y="5626993"/>
            <ns1:ext cx="6708012" cy="179983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113000"/>
              </ns1:lnSpc>
              <ns1:buNone/>
            </ns1:pPr>
            <ns1:r>
              <ns1:rPr lang="en-US" sz="1000" b="1" dirty="0">
                <ns1:solidFill>
                  <ns1:srgbClr val="BFBFBF"/>
                </ns1:solidFill>
                <ns1:latin typeface="Open Sans Bold" pitchFamily="34" charset="0"/>
                <ns1:ea typeface="Open Sans Bold" pitchFamily="34" charset="-122"/>
                <ns1:cs typeface="Open Sans Bold" pitchFamily="34" charset="-120"/>
              </ns1:rPr>
              <ns1:t>One process. One hidden bottleneck. One verified data-driven intervention.</ns1:t>
            </ns1:r>
            <ns1:endParaRPr lang="en-US" sz="1000" dirty="0"/>
          </ns1:p>
        </ns0:txBody>
      </ns0:sp>
      <ns0:sp>
        <ns0:nvSpPr>
          <ns0:cNvPr id="18" name="Shape 15"/>
          <ns0:cNvSpPr/>
          <ns0:nvPr/>
        </ns0:nvSpPr>
        <ns0:spPr>
          <ns1:xfrm>
            <ns1:off x="661475" y="5522813"/>
            <ns1:ext cx="19050" cy="388342"/>
          </ns1:xfrm>
          <ns1:prstGeom prst="roundRect">
            <ns1:avLst>
              <ns1:gd name="adj" fmla="val 49999"/>
            </ns1:avLst>
          </ns1:prstGeom>
          <ns1:solidFill>
            <ns1:srgbClr val="F5F547"/>
          </ns1:solidFill>
          <ns1:ln/>
        </ns0:spPr>
      </ns0:sp>
      <ns0:sp>
        <ns0:nvSpPr>
          <ns0:cNvPr id="19" name="Shape 16"/>
          <ns0:cNvSpPr/>
          <ns0:nvPr/>
        </ns0:nvSpPr>
        <ns0:spPr>
          <ns1:xfrm>
            <ns1:off x="661475" y="6015335"/>
            <ns1:ext cx="1047426" cy="201116"/>
          </ns1:xfrm>
          <ns1:prstGeom prst="roundRect">
            <ns1:avLst>
              <ns1:gd name="adj" fmla="val 7895"/>
            </ns1:avLst>
          </ns1:prstGeom>
          <ns1:solidFill>
            <ns1:srgbClr val="494904"/>
          </ns1:solidFill>
          <ns1:ln/>
        </ns0:spPr>
      </ns0:sp>
      <ns0:sp>
        <ns0:nvSpPr>
          <ns0:cNvPr id="20" name="Text 17"/>
          <ns0:cNvSpPr/>
          <ns0:nvPr/>
        </ns0:nvSpPr>
        <ns0:spPr>
          <ns1:xfrm>
            <ns1:off x="740848" y="6055023"/>
            <ns1:ext cx="1498265" cy="121741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96000"/>
              </ns1:lnSpc>
              <ns1:buNone/>
            </ns1:pPr>
            <ns1:r>
              <ns1:rPr lang="en-US" sz="800" dirty="0">
                <ns1:solidFill>
                  <ns1:srgbClr val="BFBFBF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TEAM HACKGENIX</ns1:t>
            </ns1:r>
            <ns1:endParaRPr lang="en-US" sz="800" dirty="0"/>
          </ns1:p>
        </ns0:txBody>
      </ns0:sp>
      <ns0:sp>
        <ns0:nvSpPr>
          <ns0:cNvPr id="21" name="Shape 18"/>
          <ns0:cNvSpPr/>
          <ns0:nvPr/>
        </ns0:nvSpPr>
        <ns0:spPr>
          <ns1:xfrm>
            <ns1:off x="1774979" y="6015335"/>
            <ns1:ext cx="1393393" cy="201116"/>
          </ns1:xfrm>
          <ns1:prstGeom prst="roundRect">
            <ns1:avLst>
              <ns1:gd name="adj" fmla="val 7895"/>
            </ns1:avLst>
          </ns1:prstGeom>
          <ns1:noFill/>
          <ns1:ln w="6350">
            <ns1:solidFill>
              <ns1:srgbClr val="F5F547"/>
            </ns1:solidFill>
            <ns1:prstDash val="solid"/>
          </ns1:ln>
        </ns0:spPr>
      </ns0:sp>
      <ns0:sp>
        <ns0:nvSpPr>
          <ns0:cNvPr id="22" name="Text 19"/>
          <ns0:cNvSpPr/>
          <ns0:nvPr/>
        </ns0:nvSpPr>
        <ns0:spPr>
          <ns1:xfrm>
            <ns1:off x="1854352" y="6055023"/>
            <ns1:ext cx="1844232" cy="121741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t"/>
          <ns1:lstStyle/>
          <ns1:p>
            <ns1:pPr algn="l" indent="0" marL="0">
              <ns1:lnSpc>
                <ns1:spcPct val="96000"/>
              </ns1:lnSpc>
              <ns1:buNone/>
            </ns1:pPr>
            <ns1:r>
              <ns1:rPr lang="en-US" sz="800" dirty="0">
                <ns1:solidFill>
                  <ns1:srgbClr val="F5F547"/>
                </ns1:solidFill>
                <ns1:latin typeface="Open Sans" pitchFamily="34" charset="0"/>
                <ns1:ea typeface="Open Sans" pitchFamily="34" charset="-122"/>
                <ns1:cs typeface="Open Sans" pitchFamily="34" charset="-120"/>
              </ns1:rPr>
              <ns1:t>PS 17 | HACKGENIX 2026</ns1:t>
            </ns1:r>
            <ns1:endParaRPr lang="en-US" sz="80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2026-09-25T11:43:58Z</dcterms:created>
  <dcterms:modified xsi:type="dcterms:W3CDTF">2026-09-25T11:43:58Z</dcterms:modified>
</cp:coreProperties>
</file>